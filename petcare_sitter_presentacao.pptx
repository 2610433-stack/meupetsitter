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200" b="1">
                <a:solidFill>
                  <a:srgbClr val="E06D53"/>
                </a:solidFill>
                <a:latin typeface="Arial"/>
              </a:defRPr>
            </a:pPr>
            <a:r>
              <a:t>PROPOSTA DE PROJETO  |  TECNOLOGIA &amp; SEGURANÇA PET</a:t>
            </a:r>
          </a:p>
          <a:p>
            <a:pPr>
              <a:spcAft>
                <a:spcPts val="1400"/>
              </a:spcAft>
              <a:defRPr sz="4600" b="1">
                <a:solidFill>
                  <a:srgbClr val="FFFFFF"/>
                </a:solidFill>
                <a:latin typeface="Georgia"/>
              </a:defRPr>
            </a:pPr>
            <a:r>
              <a:t>PetCare Sitter</a:t>
            </a:r>
          </a:p>
          <a:p>
            <a:pPr>
              <a:spcAft>
                <a:spcPts val="2800"/>
              </a:spcAft>
              <a:defRPr sz="2000">
                <a:solidFill>
                  <a:srgbClr val="CBD5E1"/>
                </a:solidFill>
                <a:latin typeface="Arial"/>
              </a:defRPr>
            </a:pPr>
            <a:r>
              <a:t>Acompanhamento e Comprovação Verificável de Serviços de Pet Sitter</a:t>
            </a:r>
          </a:p>
          <a:p>
            <a:pPr>
              <a:defRPr sz="1600" i="1">
                <a:solidFill>
                  <a:srgbClr val="E06D53"/>
                </a:solidFill>
                <a:latin typeface="Georgia"/>
              </a:defRPr>
            </a:pPr>
            <a:r>
              <a:t>“Não apenas encontre quem cuide do seu pet. Saiba exatamente como ele foi cuidado.”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E06D53"/>
                </a:solidFill>
                <a:latin typeface="Arial"/>
              </a:defRPr>
            </a:pPr>
            <a:r>
              <a:t>PETCARE SITTER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O problema não é encontrar um Pet Sitter, mas garantir a execução auditável do serviço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19050"/>
          </a:xfrm>
          <a:prstGeom prst="rect">
            <a:avLst/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28416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287121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E06D53"/>
                </a:solidFill>
                <a:latin typeface="Arial"/>
              </a:defRPr>
            </a:pPr>
            <a:r>
              <a:t>01. FOCO INCORRETO</a:t>
            </a:r>
          </a:p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  <a:latin typeface="Georgia"/>
              </a:defRPr>
            </a:pPr>
            <a:r>
              <a:t>Foco no Matchmaking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Plataformas tradicionais (Petlove, DogHero, Rover) atuam primordialmente como marketplaces de conexão entre tutor e cuidador.</a:t>
            </a:r>
            <a:br/>
            <a:br/>
            <a:r>
              <a:t>A responsabilidade da plataforma encerra-se no momento da contratação, deixando o período da visita sem qualquer acompanhamento técnico ou verificação.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737360"/>
            <a:ext cx="3328416" cy="4572000"/>
          </a:xfrm>
          <a:prstGeom prst="roundRect">
            <a:avLst/>
          </a:prstGeom>
          <a:solidFill>
            <a:srgbClr val="FDF6F0"/>
          </a:solidFill>
          <a:ln w="12700">
            <a:solidFill>
              <a:srgbClr val="EB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54296" y="1965960"/>
            <a:ext cx="287121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E06D53"/>
                </a:solidFill>
                <a:latin typeface="Arial"/>
              </a:defRPr>
            </a:pPr>
            <a:r>
              <a:t>02. DORES DA AUSÊNCIA</a:t>
            </a:r>
          </a:p>
          <a:p>
            <a:pPr>
              <a:spcAft>
                <a:spcPts val="1400"/>
              </a:spcAft>
              <a:defRPr sz="1800" b="1">
                <a:solidFill>
                  <a:srgbClr val="E06D53"/>
                </a:solidFill>
                <a:latin typeface="Georgia"/>
              </a:defRPr>
            </a:pPr>
            <a:r>
              <a:t>Relatos de Descumprimento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Sem supervisão, surgem gargalos recorrentes de qualidade na prestação do serviço domiciliar:</a:t>
            </a:r>
            <a:br/>
            <a:br/>
            <a:r>
              <a:t>• Visitas encurtadas (ex: 15 min em contratos de 1h)</a:t>
            </a:r>
            <a:br/>
            <a:r>
              <a:t>• Omissão de medicação ou rotina alimentar</a:t>
            </a:r>
            <a:br/>
            <a:r>
              <a:t>• Falta de relatos detalhados durante a ausência do tutor.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737360"/>
            <a:ext cx="3328416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2" y="1965960"/>
            <a:ext cx="287121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E06D53"/>
                </a:solidFill>
                <a:latin typeface="Arial"/>
              </a:defRPr>
            </a:pPr>
            <a:r>
              <a:t>03. ASSIMETRIA DE CONFIANÇA</a:t>
            </a:r>
          </a:p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  <a:latin typeface="Georgia"/>
              </a:defRPr>
            </a:pPr>
            <a:r>
              <a:t>Avaliações Subjetivas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O modelo de reputação atual baseia-se exclusivamente em estrelas e depoimentos genéricos após a contratação.</a:t>
            </a:r>
            <a:br/>
            <a:br/>
            <a:r>
              <a:t>Falta um mecanismo de dados objetivos e auditáveis em tempo real para comprovar que o pet recebeu o cuidado combinado.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E06D53"/>
                </a:solidFill>
                <a:latin typeface="Arial"/>
              </a:defRPr>
            </a:pPr>
            <a:r>
              <a:t>PETCARE SITTER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Tutores com alta exigência de cuidado e cuidadores profissionais formam nosso nicho inicial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19050"/>
          </a:xfrm>
          <a:prstGeom prst="rect">
            <a:avLst/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75504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626864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A7B6C"/>
                </a:solidFill>
                <a:latin typeface="Arial"/>
              </a:defRPr>
            </a:pPr>
            <a:r>
              <a:t>DEMANDA E PÚBLICO TUTORES</a:t>
            </a:r>
          </a:p>
          <a:p>
            <a:pPr>
              <a:spcAft>
                <a:spcPts val="1600"/>
              </a:spcAft>
              <a:defRPr sz="2000" b="1">
                <a:solidFill>
                  <a:srgbClr val="0F172A"/>
                </a:solidFill>
                <a:latin typeface="Georgia"/>
              </a:defRPr>
            </a:pPr>
            <a:r>
              <a:t>Tutores de Alta Exigência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•  Tutores Frequentes em Viagem: </a:t>
            </a:r>
            <a:r>
              <a:rPr b="0">
                <a:solidFill>
                  <a:srgbClr val="64748B"/>
                </a:solidFill>
              </a:rPr>
              <a:t>Necessitam de tranquilidade e acompanhamento detalhado em tempo real da rotina do imóvel.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•  Pets com Cuidados Especiais: </a:t>
            </a:r>
            <a:r>
              <a:rPr b="0">
                <a:solidFill>
                  <a:srgbClr val="64748B"/>
                </a:solidFill>
              </a:rPr>
              <a:t>Gatos e cães idosos, cardiopatas ou ansiosos que exigem medicação em horários rígidos.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•  Exigência de Transparência: </a:t>
            </a:r>
            <a:r>
              <a:rPr b="0">
                <a:solidFill>
                  <a:srgbClr val="64748B"/>
                </a:solidFill>
              </a:rPr>
              <a:t>Tutores dispostos a pagar um premium por comprovação fotográfica e validação geográfica de presença.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737360"/>
            <a:ext cx="5175504" cy="4572000"/>
          </a:xfrm>
          <a:prstGeom prst="roundRect">
            <a:avLst/>
          </a:prstGeom>
          <a:solidFill>
            <a:srgbClr val="EFF7F5"/>
          </a:solidFill>
          <a:ln w="12700">
            <a:solidFill>
              <a:srgbClr val="2A7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47104" y="2011680"/>
            <a:ext cx="4626864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A7B6C"/>
                </a:solidFill>
                <a:latin typeface="Arial"/>
              </a:defRPr>
            </a:pPr>
            <a:r>
              <a:t>OFERTA E CUIDADORES QUALIFICADOS</a:t>
            </a:r>
          </a:p>
          <a:p>
            <a:pPr>
              <a:spcAft>
                <a:spcPts val="1600"/>
              </a:spcAft>
              <a:defRPr sz="2000" b="1">
                <a:solidFill>
                  <a:srgbClr val="0F172A"/>
                </a:solidFill>
                <a:latin typeface="Georgia"/>
              </a:defRPr>
            </a:pPr>
            <a:r>
              <a:t>Pet Sitters Profissionais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•  Diferenciação no Mercado: </a:t>
            </a:r>
            <a:r>
              <a:rPr b="0">
                <a:solidFill>
                  <a:srgbClr val="64748B"/>
                </a:solidFill>
              </a:rPr>
              <a:t>Profissionais dedicados que buscam escapar da competição puramente baseada em menor preço.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•  Construção de Reputação Objetiva: </a:t>
            </a:r>
            <a:r>
              <a:rPr b="0">
                <a:solidFill>
                  <a:srgbClr val="64748B"/>
                </a:solidFill>
              </a:rPr>
              <a:t>Desejo de comprovar a excelência do trabalho por métricas e histórico auditável de visitas.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•  Fidelização de Clientes: </a:t>
            </a:r>
            <a:r>
              <a:rPr b="0">
                <a:solidFill>
                  <a:srgbClr val="64748B"/>
                </a:solidFill>
              </a:rPr>
              <a:t>Ferramenta para transmitir profissionalismo e consolidar uma carteira recorrente de atendimentos.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E06D53"/>
                </a:solidFill>
                <a:latin typeface="Arial"/>
              </a:defRPr>
            </a:pPr>
            <a:r>
              <a:t>PETCARE SITTER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A plataforma transforma o atendimento em um ciclo auditável de 5 etapas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19050"/>
          </a:xfrm>
          <a:prstGeom prst="rect">
            <a:avLst/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99339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47088"/>
            <a:ext cx="181051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1. Encontrar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Seleção por perfil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2" y="1737360"/>
            <a:ext cx="199339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9232" y="1847088"/>
            <a:ext cx="181051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2. Combinar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Plano de cuidados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1737360"/>
            <a:ext cx="1993392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B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75504" y="1847088"/>
            <a:ext cx="181051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06D53"/>
                </a:solidFill>
                <a:latin typeface="Arial"/>
              </a:defRPr>
            </a:pPr>
            <a:r>
              <a:t>3. Acompanhar</a:t>
            </a:r>
          </a:p>
          <a:p>
            <a:pPr>
              <a:defRPr sz="1000">
                <a:solidFill>
                  <a:srgbClr val="E2E8F0"/>
                </a:solidFill>
                <a:latin typeface="Arial"/>
              </a:defRPr>
            </a:pPr>
            <a:r>
              <a:t>Check-in e alertas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0336" y="1737360"/>
            <a:ext cx="1993392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B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51776" y="1847088"/>
            <a:ext cx="181051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06D53"/>
                </a:solidFill>
                <a:latin typeface="Arial"/>
              </a:defRPr>
            </a:pPr>
            <a:r>
              <a:t>4. Comprovar</a:t>
            </a:r>
          </a:p>
          <a:p>
            <a:pPr>
              <a:defRPr sz="1000">
                <a:solidFill>
                  <a:srgbClr val="E2E8F0"/>
                </a:solidFill>
                <a:latin typeface="Arial"/>
              </a:defRPr>
            </a:pPr>
            <a:r>
              <a:t>Checklist e fotos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36608" y="1737360"/>
            <a:ext cx="199339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8048" y="1847088"/>
            <a:ext cx="181051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5. Avaliar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Diário e índice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926080"/>
            <a:ext cx="3328416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154680"/>
            <a:ext cx="287121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E06D53"/>
                </a:solidFill>
                <a:latin typeface="Arial"/>
              </a:defRPr>
            </a:pPr>
            <a:r>
              <a:t>CHECK-IN POR GEOLOCALIZAÇÃO</a:t>
            </a:r>
          </a:p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Georgia"/>
              </a:defRPr>
            </a:pPr>
            <a:r>
              <a:t>Presença Verificada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Validação geográfica de início e fim da visita no raio do imóvel do tutor.</a:t>
            </a:r>
            <a:br/>
            <a:br/>
            <a:r>
              <a:t>• Privacidade-First: Sem rastreamento contínuo durante o trajeto.</a:t>
            </a:r>
            <a:br/>
            <a:r>
              <a:t>• Economia de bateria e respeito à LGPD.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25696" y="2926080"/>
            <a:ext cx="3328416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54296" y="3154680"/>
            <a:ext cx="287121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E06D53"/>
                </a:solidFill>
                <a:latin typeface="Arial"/>
              </a:defRPr>
            </a:pPr>
            <a:r>
              <a:t>CHECKLIST DINÂMICO</a:t>
            </a:r>
          </a:p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Georgia"/>
              </a:defRPr>
            </a:pPr>
            <a:r>
              <a:t>Validação por Fotos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O tutor cadastra o plano de cuidados e o sitter valida cada tarefa concluída.</a:t>
            </a:r>
            <a:br/>
            <a:br/>
            <a:r>
              <a:t>• Exigência de anexar foto comprovando ração, água limpa e medicação dada com horário exato.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9872" y="2926080"/>
            <a:ext cx="3328416" cy="3291840"/>
          </a:xfrm>
          <a:prstGeom prst="roundRect">
            <a:avLst/>
          </a:prstGeom>
          <a:solidFill>
            <a:srgbClr val="FDF6F0"/>
          </a:solidFill>
          <a:ln w="12700">
            <a:solidFill>
              <a:srgbClr val="EB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8472" y="3154680"/>
            <a:ext cx="287121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E06D53"/>
                </a:solidFill>
                <a:latin typeface="Arial"/>
              </a:defRPr>
            </a:pPr>
            <a:r>
              <a:t>ALERTAS DE OCORRÊNCIA</a:t>
            </a:r>
          </a:p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Georgia"/>
              </a:defRPr>
            </a:pPr>
            <a:r>
              <a:t>Notificação de Incidentes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Registro imediato de imprevistos categorizados por nível de severidade:</a:t>
            </a:r>
            <a:br/>
            <a:br/>
            <a:r>
              <a:t>• Nível Verde: Normal (Atividade rotineira)</a:t>
            </a:r>
            <a:br/>
            <a:r>
              <a:t>• Nível Amarelo: Atenção (Recusa de ração/vômito)</a:t>
            </a:r>
            <a:br/>
            <a:r>
              <a:t>• Nível Vermelho: Emergência (Acidente/necessidade vet)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E06D53"/>
                </a:solidFill>
                <a:latin typeface="Arial"/>
              </a:defRPr>
            </a:pPr>
            <a:r>
              <a:t>PETCARE SITTER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O Diário da Visita e o Índice de Confiabilidade geram valor tangível para tutores e sitters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19050"/>
          </a:xfrm>
          <a:prstGeom prst="rect">
            <a:avLst/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28416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287121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A7B6C"/>
                </a:solidFill>
                <a:latin typeface="Arial"/>
              </a:defRPr>
            </a:pPr>
            <a:r>
              <a:t>PARA O TUTOR</a:t>
            </a:r>
          </a:p>
          <a:p>
            <a:pPr>
              <a:spcAft>
                <a:spcPts val="1400"/>
              </a:spcAft>
              <a:defRPr sz="2000" b="1">
                <a:solidFill>
                  <a:srgbClr val="0F172A"/>
                </a:solidFill>
                <a:latin typeface="Georgia"/>
              </a:defRPr>
            </a:pPr>
            <a:r>
              <a:t>Diário da Visita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Relatório consolidado gerado automaticamente ao término de cada atendimento.</a:t>
            </a:r>
            <a:br/>
            <a:br/>
            <a:r>
              <a:t>• Resumo com tempo exato de permanência</a:t>
            </a:r>
            <a:br/>
            <a:r>
              <a:t>• Galeria de fotos das tarefas executadas</a:t>
            </a:r>
            <a:br/>
            <a:r>
              <a:t>• Checklist de cuidados 100% verificado</a:t>
            </a:r>
            <a:br/>
            <a:r>
              <a:t>• Registro de eventuais ocorrências</a:t>
            </a:r>
            <a:br/>
            <a:br/>
            <a:r>
              <a:t>Proporciona tranquilidade absoluta enquanto estiver fora.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737360"/>
            <a:ext cx="3328416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54296" y="1965960"/>
            <a:ext cx="287121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E06D53"/>
                </a:solidFill>
                <a:latin typeface="Arial"/>
              </a:defRPr>
            </a:pPr>
            <a:r>
              <a:t>PARA O PET SITTER</a:t>
            </a:r>
          </a:p>
          <a:p>
            <a:pPr>
              <a:spcAft>
                <a:spcPts val="1400"/>
              </a:spcAft>
              <a:defRPr sz="2000" b="1">
                <a:solidFill>
                  <a:srgbClr val="0F172A"/>
                </a:solidFill>
                <a:latin typeface="Georgia"/>
              </a:defRPr>
            </a:pPr>
            <a:r>
              <a:t>Índice de Confiabilidade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Métrica objetiva calculada por algoritmos com base no histórico do cuidador.</a:t>
            </a:r>
            <a:br/>
            <a:br/>
            <a:r>
              <a:t>• Pontualidade nos check-ins</a:t>
            </a:r>
            <a:br/>
            <a:r>
              <a:t>• Taxa de cumprimento de checklists</a:t>
            </a:r>
            <a:br/>
            <a:r>
              <a:t>• Avaliações e ocorrências registradas</a:t>
            </a:r>
            <a:br/>
            <a:br/>
            <a:r>
              <a:t>Permite que profissionais qualificados cobrem valores justos e comprovem excelência.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737360"/>
            <a:ext cx="3328416" cy="4572000"/>
          </a:xfrm>
          <a:prstGeom prst="roundRect">
            <a:avLst/>
          </a:prstGeom>
          <a:solidFill>
            <a:srgbClr val="EFF7F5"/>
          </a:solidFill>
          <a:ln w="12700">
            <a:solidFill>
              <a:srgbClr val="EB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2" y="1965960"/>
            <a:ext cx="287121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SEGURANÇA &amp; PRIVACIDADE</a:t>
            </a:r>
          </a:p>
          <a:p>
            <a:pPr>
              <a:spcAft>
                <a:spcPts val="1400"/>
              </a:spcAft>
              <a:defRPr sz="2000" b="1">
                <a:solidFill>
                  <a:srgbClr val="0F172A"/>
                </a:solidFill>
                <a:latin typeface="Georgia"/>
              </a:defRPr>
            </a:pPr>
            <a:r>
              <a:t>Proteção de Dados (LGPD)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Mecanismos rigorosos para proteger a integridade física e digital dos usuários.</a:t>
            </a:r>
            <a:br/>
            <a:br/>
            <a:r>
              <a:t>• Endereço exato oculto até o aceite do serviço</a:t>
            </a:r>
            <a:br/>
            <a:r>
              <a:t>• Armazenamento seguro de instruções de entrada no imóvel</a:t>
            </a:r>
            <a:br/>
            <a:r>
              <a:t>• Dados do pet compartilhados apenas durante o período do contrato.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E06D53"/>
                </a:solidFill>
                <a:latin typeface="Arial"/>
              </a:defRPr>
            </a:pPr>
            <a:r>
              <a:t>PETCARE SITTER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O MVP valida a transparência do cuidado antes da expansão para pagamentos e saúde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19050"/>
          </a:xfrm>
          <a:prstGeom prst="rect">
            <a:avLst/>
          </a:prstGeom>
          <a:solidFill>
            <a:srgbClr val="EB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75504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626864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E06D53"/>
                </a:solidFill>
                <a:latin typeface="Arial"/>
              </a:defRPr>
            </a:pPr>
            <a:r>
              <a:t>FASE 1 — ESCOPO DO MVP</a:t>
            </a:r>
          </a:p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  <a:latin typeface="Georgia"/>
              </a:defRPr>
            </a:pPr>
            <a:r>
              <a:t>Funcionalidades Fundamentais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✓  Cadastros completos (Tutor, Pet e Sitter) com perfil de saúde.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✓  Busca com filtros por localização, preço e serviços oferecidos.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✓  Mecanismo de solicitação, agendamento e aceite de visita.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✓  Validação de check-in/out via geofencing (raio do imóvel).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✓  Checklist interativo com envio obrigatório de fotos.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✓  Registro de ocorrências e geração do Diário da Visita.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737360"/>
            <a:ext cx="5175504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B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47104" y="2011680"/>
            <a:ext cx="4626864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E06D53"/>
                </a:solidFill>
                <a:latin typeface="Arial"/>
              </a:defRPr>
            </a:pPr>
            <a:r>
              <a:t>FASE 2 — EVOLUÇÃO E ROADMAP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Georgia"/>
              </a:defRPr>
            </a:pPr>
            <a:r>
              <a:t>Expansão da Plataforma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→  Integração de Gateway de Pagamentos (custódia do valor até conclusão).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→  Sistema de Chat interno em tempo real entre Tutor e Sitter.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→  Visualização avançada e busca interativa em Mapa.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→  Prontuário Veterinário Unificado e conexão com clínicas parceiras.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→  Módulo de seguro saúde e cobertura para imprevistos na visita.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